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4A5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D4A52"/>
                </a:solidFill>
                <a:latin typeface="Calibri"/>
              </a:rPr>
              <a:t>Estimated FTE impact by sub-function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 impact</c:v>
                </c:pt>
              </c:strCache>
            </c:strRef>
          </c:tx>
          <c:spPr>
            <a:solidFill>
              <a:srgbClr val="2D4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4A5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 / AR</c:v>
                  </c:pt>
                  <c:pt idx="1">
                    <c:v>GL / Close</c:v>
                  </c:pt>
                  <c:pt idx="2">
                    <c:v>Vendor
Management</c:v>
                  </c:pt>
                  <c:pt idx="3">
                    <c:v>Treasury</c:v>
                  </c:pt>
                  <c:pt idx="4">
                    <c:v>FP&amp;A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10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4A5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40280"/>
            <a:ext cx="548640" cy="54864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Accounting Process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 /  Week 4 of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Riverstone Manufacturing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April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ADVISORY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/  For Working Session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context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currently runs 12 business days against a peer median of 6, constraining the timeliness of management reporting.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 and journal entry processes are heavily manual; cost-per-invoice is roughly 4x best-in-class benchmarks.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legacy ERP instances acquired through M&amp;A have not been consolidated, driving reconciliation effort across the close cycle.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scope (10 weeks, 4 of 10 complete)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of finance and accounting operations across AP, AR, GL, close, and treasury at the corporate centre and three operating subsidiaries.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process, technology, and organisational improvement opportunities with a phased 18-month execution plan.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tax provisioning, internal audit, statutory reporting jurisdictions outside North America.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diagnosis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508760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median: 6 business days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73152" cy="1508760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processing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invoice; best-in-class: $3.50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60120"/>
            <a:ext cx="73152" cy="1508760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error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target: &lt;1.0%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drivers of the performance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fragmentation across legacy ERP instances: 60% of journal entries still require manual reconciliation between systems before posting.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automation in AP intake: 78% of invoices arrive as PDF or email attachments and are keyed manually into the AP system.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calendar discipline is informal: cut-off dates slip by 1-3 days each cycle, with cascading impact on consolidation and reporting.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Riverstone FY25 internal financial reporting; APQC peer benchmarks Q3 FY24.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to a step-change in finance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simplification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low-touch transactional finance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AP, AR, and GL processes into shared service operating model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close calendar, cut-off rules, and reconciliation routines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continuous improvement metrics in finance leadership reviews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F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05840"/>
            <a:ext cx="457200" cy="45720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enablement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platform consolidation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consolidation onto a single instance with phased subsidiary migration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automation: invoice capture, three-way match, exception routing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RPA in journal entry, reconciliation, and bank file 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05840"/>
            <a:ext cx="457200" cy="45720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and roles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and span-of-control redesign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finance team from transactional execution to analysis and insight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process ownership across centre and operating subsidiaries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capability in data, automation, and finance analytics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recommendations — prioritised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109728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consolidation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master data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Month-end close acceleration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function modernization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relative implementation difficulty across change management, technology, and process re-engineering. Impact = expected annualised cost reduction over an 18-month execution horizon, net of investment.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implications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00400" cy="1645920"/>
          </a:xfrm>
          <a:prstGeom prst="rect">
            <a:avLst/>
          </a:prstGeom>
          <a:solidFill>
            <a:srgbClr val="F4E6DA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finance team consolidation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FTE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7150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workforce reduction across in-scope finance and accounting functions over 18 months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5778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considerations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3108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over 18 months in line with the operating model wave plan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standard notice and consultation requirements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pathways to be defined in Phase 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phased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64008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- Sept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finalisation and recommendation lock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automation pilot (invoice capture + three-way match)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 data cleanup execution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calendar standardisation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97480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2026 - Mar 2027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automation rollout to all entities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acceleration program kickoff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consolidation discovery and migration design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pathway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- Sept 2027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7373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consolidation phased migration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function modernization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cycle stabilisation at target days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realisation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 and 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48640" cy="36576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for working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recommendation prioritisation — are these the right top five for the next 18 months?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framing for internal communications — language, scope, sequencing.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timing — confirmation of October 2026 start, or appetite to accelerate.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peer benchmark vintage and FY25 baseline assumptions.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886200"/>
            <a:ext cx="73152" cy="777240"/>
          </a:xfrm>
          <a:prstGeom prst="rect">
            <a:avLst/>
          </a:prstGeom>
          <a:solidFill>
            <a:srgbClr val="C77D54"/>
          </a:solidFill>
          <a:ln w="12700">
            <a:solidFill>
              <a:srgbClr val="C77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502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deck for steering committee preparation — due Monday 4 May 2026, end of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4A52"/>
          </a:solidFill>
          <a:ln w="12700">
            <a:solidFill>
              <a:srgbClr val="2D4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/  Riverstone Manufacturing x Catalyst Advisory  /  for working session use only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95360" y="4956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&amp; Accounting Process Optimization - Working Session</dc:title>
  <dc:subject>PptxGenJS Presentation</dc:subject>
  <dc:creator>Catalyst Advisory</dc:creator>
  <cp:lastModifiedBy>Catalyst Advisory</cp:lastModifiedBy>
  <cp:revision>1</cp:revision>
  <dcterms:created xsi:type="dcterms:W3CDTF">2026-05-04T22:18:55Z</dcterms:created>
  <dcterms:modified xsi:type="dcterms:W3CDTF">2026-05-04T22:18:55Z</dcterms:modified>
</cp:coreProperties>
</file>